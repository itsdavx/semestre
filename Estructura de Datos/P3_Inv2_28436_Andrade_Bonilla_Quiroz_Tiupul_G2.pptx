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 Bold" charset="1" panose="02000503000000020004"/>
      <p:regular r:id="rId20"/>
    </p:embeddedFont>
    <p:embeddedFont>
      <p:font typeface="Inter" charset="1" panose="02000503000000020004"/>
      <p:regular r:id="rId21"/>
    </p:embeddedFont>
    <p:embeddedFont>
      <p:font typeface="Arimo Bold" charset="1" panose="020B0704020202020204"/>
      <p:regular r:id="rId29"/>
    </p:embeddedFont>
    <p:embeddedFont>
      <p:font typeface="Arimo" charset="1" panose="020B0604020202020204"/>
      <p:regular r:id="rId30"/>
    </p:embeddedFont>
    <p:embeddedFont>
      <p:font typeface="Open Sans Bold" charset="1" panose="020B08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7522" y="1897750"/>
            <a:ext cx="13020162" cy="189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1"/>
              </a:lnSpc>
            </a:pPr>
            <a:r>
              <a:rPr lang="en-US" sz="60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Tiempo de Ejecución de un Algoritmo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23577" y="4799376"/>
            <a:ext cx="3785679" cy="22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Presentado por: </a:t>
            </a:r>
          </a:p>
          <a:p>
            <a:pPr algn="l" marL="472282" indent="-236141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Bonilla Caiza David</a:t>
            </a:r>
          </a:p>
          <a:p>
            <a:pPr algn="l" marL="472282" indent="-236141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Andrade Chicaiza Julio</a:t>
            </a:r>
          </a:p>
          <a:p>
            <a:pPr algn="l" marL="472282" indent="-236141" lvl="1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Quiroz Herrera María</a:t>
            </a:r>
          </a:p>
          <a:p>
            <a:pPr algn="l" marL="472281" indent="-23614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Tiupul Guamán Danny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23844" y="4914901"/>
            <a:ext cx="6863840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Universidad de las Fuerzas Armadas ESPE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23844" y="5687473"/>
            <a:ext cx="6863840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Ingeniería de Software - Estructuras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23844" y="6460037"/>
            <a:ext cx="6863840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22 de enero del 2025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10122" y="34554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97583" y="7683636"/>
            <a:ext cx="3498289" cy="66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4"/>
              </a:lnSpc>
            </a:pPr>
            <a:r>
              <a:rPr lang="en-US" sz="426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Grupo Nro 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13724294" y="578926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8116786" y="6730756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412" t="0" r="-44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0122" y="34554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08656" y="2067613"/>
            <a:ext cx="4939546" cy="7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6"/>
              </a:lnSpc>
            </a:pPr>
            <a:r>
              <a:rPr lang="en-US" sz="45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sz="45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efinición Formal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15648" y="4573691"/>
            <a:ext cx="3301008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Ti</a:t>
            </a: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empo Absoluto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33423" y="2923326"/>
            <a:ext cx="9690012" cy="90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6"/>
              </a:lnSpc>
            </a:pPr>
            <a:r>
              <a:rPr lang="en-US" sz="23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t</a:t>
            </a:r>
            <a:r>
              <a:rPr lang="en-US" sz="23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iempo de ejecución es una medida del rendimiento de un algoritmo, que determina la cantidad de tiempo que toma para completarse.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65929" y="5334850"/>
            <a:ext cx="5400446" cy="216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4"/>
              </a:lnSpc>
            </a:pPr>
            <a:r>
              <a:rPr lang="en-US" sz="27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7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edido en unidades de tiempo (segundos, milisegundos). Depende del hardware y el entorno de ejecución.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3724294" y="578926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63618" y="4573380"/>
            <a:ext cx="3116461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2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Ti</a:t>
            </a: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empo Relativo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21626" y="5334850"/>
            <a:ext cx="5400446" cy="216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4"/>
              </a:lnSpc>
            </a:pPr>
            <a:r>
              <a:rPr lang="en-US" sz="27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Una func</a:t>
            </a:r>
            <a:r>
              <a:rPr lang="en-US" sz="27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ión de la cantidad de entrada (n), que describe cómo el tiempo crece con el tamaño del problema.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8253541" y="6446121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7" y="0"/>
                </a:lnTo>
                <a:lnTo>
                  <a:pt x="316707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412" t="0" r="-44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0122" y="34554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724294" y="578926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186977" y="1019175"/>
            <a:ext cx="5794296" cy="7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76"/>
              </a:lnSpc>
            </a:pPr>
            <a:r>
              <a:rPr lang="en-US" sz="45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Fa</a:t>
            </a:r>
            <a:r>
              <a:rPr lang="en-US" sz="45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ctores Influyentes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26899" y="3869702"/>
            <a:ext cx="1896785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Hardwar</a:t>
            </a: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40537" y="1843917"/>
            <a:ext cx="9690012" cy="90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46"/>
              </a:lnSpc>
            </a:pPr>
            <a:r>
              <a:rPr lang="en-US" sz="23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3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iversos elementos pueden alterar significativamente el tiempo que un algoritmo tarda en completarse.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5068" y="4663327"/>
            <a:ext cx="5400446" cy="8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elocidad del procesador, memoria RAM disponible y tipo de almacenamiento.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00493" y="3909274"/>
            <a:ext cx="4024432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2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Dis</a:t>
            </a: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eño del Algoritmo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12486" y="4663327"/>
            <a:ext cx="5400446" cy="8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efic</a:t>
            </a: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iencia inherente de su lógica y estructura.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01485" y="6901992"/>
            <a:ext cx="3747611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Tamaño de Entrada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53545" y="6901992"/>
            <a:ext cx="4718328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Optimización del Código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5068" y="7699553"/>
            <a:ext cx="5400446" cy="8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</a:t>
            </a: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cantidad y complejidad de los datos a procesar.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12486" y="7699553"/>
            <a:ext cx="5400446" cy="8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</a:t>
            </a: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calidad de la implementación y las herramientas de compilación.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8253541" y="6446121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7" y="0"/>
                </a:lnTo>
                <a:lnTo>
                  <a:pt x="316707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412" t="0" r="-44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0122" y="34554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724294" y="578926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819324" y="1019175"/>
            <a:ext cx="4161949" cy="141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74"/>
              </a:lnSpc>
            </a:pPr>
            <a:r>
              <a:rPr lang="en-US" sz="45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Nota</a:t>
            </a:r>
            <a:r>
              <a:rPr lang="en-US" sz="45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ción Big O</a:t>
            </a:r>
          </a:p>
          <a:p>
            <a:pPr algn="r">
              <a:lnSpc>
                <a:spcPts val="567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002150" y="3909274"/>
            <a:ext cx="4546283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2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O(1): Tiempo Constant</a:t>
            </a: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40537" y="1843917"/>
            <a:ext cx="9690012" cy="90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46"/>
              </a:lnSpc>
            </a:pPr>
            <a:r>
              <a:rPr lang="en-US" sz="23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3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escribe el crecimiento del tiempo de ejecución cuando el tamaño de la entrada (n) tiende a infinito.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5068" y="4663327"/>
            <a:ext cx="5400446" cy="8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dependiente de 'n'. Operaciones básicas como acceso a un array por índice.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30450" y="3909274"/>
            <a:ext cx="3764518" cy="50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2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O(n): Ti</a:t>
            </a: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empo Lineal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12486" y="4663327"/>
            <a:ext cx="5400446" cy="8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Crec</a:t>
            </a: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 proporcionalmente a 'n'. Recorrer una lista completa.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09804" y="6901992"/>
            <a:ext cx="4930973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O(n²): Tiempo Cuadrático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1910" y="6969996"/>
            <a:ext cx="5161598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31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O(2ⁿ): Tiempo Exponencial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5068" y="7699553"/>
            <a:ext cx="5400446" cy="8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Crece</a:t>
            </a: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 el cuadrado de 'n'. Bucles anidados.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12486" y="7699553"/>
            <a:ext cx="5400446" cy="8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Crece</a:t>
            </a:r>
            <a:r>
              <a:rPr lang="en-US" sz="21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muy rápido. Algoritmos de fuerza bruta o recursivos sin memoización.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19389" y="1147020"/>
            <a:ext cx="9249223" cy="61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Análisis Formal del Tiempo de Ejecución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12406" y="3203524"/>
            <a:ext cx="3610127" cy="37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Cálculo en Función de 'n'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05228" y="3203524"/>
            <a:ext cx="3204267" cy="37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Expresión Matemática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73222" y="2835021"/>
            <a:ext cx="3597773" cy="37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Justificación del Análisis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4198" y="3787212"/>
            <a:ext cx="5047292" cy="346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0576" indent="-230288" lvl="1">
              <a:lnSpc>
                <a:spcPts val="3455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 </a:t>
            </a: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identifican las operaciones básicas del algoritmo.</a:t>
            </a:r>
          </a:p>
          <a:p>
            <a:pPr algn="l" marL="460576" indent="-230288" lvl="1">
              <a:lnSpc>
                <a:spcPts val="3455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 determina cuántas veces se ejecuta cada operación en función de n.</a:t>
            </a:r>
          </a:p>
          <a:p>
            <a:pPr algn="l" marL="460575" indent="-230287" lvl="1">
              <a:lnSpc>
                <a:spcPts val="3457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 suman todas las operaciones para obtener una función total.</a:t>
            </a:r>
          </a:p>
          <a:p>
            <a:pPr algn="l">
              <a:lnSpc>
                <a:spcPts val="345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483716" y="3657389"/>
            <a:ext cx="5047292" cy="3906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0576" indent="-230288" lvl="1">
              <a:lnSpc>
                <a:spcPts val="3455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 gran</a:t>
            </a: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 (O): representa el peor caso, es decir, el límite superior del tiempo de ejecución.</a:t>
            </a:r>
          </a:p>
          <a:p>
            <a:pPr algn="l" marL="460576" indent="-230288" lvl="1">
              <a:lnSpc>
                <a:spcPts val="3455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Ω (Omega): representa el mejor caso, el límite inferior.</a:t>
            </a:r>
          </a:p>
          <a:p>
            <a:pPr algn="l" marL="460576" indent="-230288" lvl="1">
              <a:lnSpc>
                <a:spcPts val="3457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Θ (Th</a:t>
            </a: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eta): representa el caso promedio o exacto, cuando el límite superior e inferior coinciden.</a:t>
            </a:r>
          </a:p>
          <a:p>
            <a:pPr algn="l">
              <a:lnSpc>
                <a:spcPts val="345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148463" y="3495827"/>
            <a:ext cx="5047292" cy="43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0576" indent="-230288" lvl="1">
              <a:lnSpc>
                <a:spcPts val="3455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Compara</a:t>
            </a: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 algoritmos de manera objetiva.</a:t>
            </a:r>
          </a:p>
          <a:p>
            <a:pPr algn="l" marL="460576" indent="-230288" lvl="1">
              <a:lnSpc>
                <a:spcPts val="3455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Predecir el comportamiento del algoritmo ante grandes volúmenes de datos.</a:t>
            </a:r>
          </a:p>
          <a:p>
            <a:pPr algn="l" marL="460576" indent="-230288" lvl="1">
              <a:lnSpc>
                <a:spcPts val="3455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Evaluar la escalabilidad y eficiencia</a:t>
            </a: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</a:t>
            </a: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 una solución.</a:t>
            </a:r>
          </a:p>
          <a:p>
            <a:pPr algn="l" marL="460576" indent="-230288" lvl="1">
              <a:lnSpc>
                <a:spcPts val="3457"/>
              </a:lnSpc>
              <a:buFont typeface="Arial"/>
              <a:buChar char="•"/>
            </a:pPr>
            <a:r>
              <a:rPr lang="en-US" sz="21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Tomar decisiones de diseño sin necesidad de ejecutar el programa.</a:t>
            </a:r>
          </a:p>
          <a:p>
            <a:pPr algn="l">
              <a:lnSpc>
                <a:spcPts val="345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27" y="645766"/>
            <a:ext cx="9348197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Técnicas de Análisis de Eficiencia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63218" y="3592542"/>
            <a:ext cx="6161564" cy="51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Modelo de Máquina Abstracta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27" y="4748243"/>
            <a:ext cx="8332478" cy="31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Modelo más utilizado debido a su fidelidad con la arquitectura de las computadoras modernas. Simula una CPU que ejecuta una instrucción por unidad d</a:t>
            </a:r>
            <a:r>
              <a:rPr lang="en-US" sz="287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tiempo y tiene acceso a la memoria en tiempo constante, lo que simplifica el cálculo de los costos.</a:t>
            </a:r>
          </a:p>
          <a:p>
            <a:pPr algn="just">
              <a:lnSpc>
                <a:spcPts val="358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27827" y="1715541"/>
            <a:ext cx="17032346" cy="122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7"/>
              </a:lnSpc>
              <a:spcBef>
                <a:spcPct val="0"/>
              </a:spcBef>
            </a:pPr>
            <a:r>
              <a:rPr lang="en-US" sz="26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análisis de la eficiencia de algoritmos es crucial en informática para comprender cómo se comportará un algoritmo a medida que el tamaño de la entrada crece. Para realizar este análisis de forma rigurosa, se emplean modelos abstractos que simplifican las complejidades del hardware real.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09968" y="4975723"/>
            <a:ext cx="8332478" cy="17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Permite calcular la cantidad de recursos necesarios para realizar una operación particular, sin tener que construir un sistema real.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0" y="3082863"/>
            <a:ext cx="17259300" cy="390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2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Cálculo de T(n)</a:t>
            </a:r>
          </a:p>
          <a:p>
            <a:pPr algn="ctr">
              <a:lnSpc>
                <a:spcPts val="5264"/>
              </a:lnSpc>
              <a:spcBef>
                <a:spcPct val="0"/>
              </a:spcBef>
            </a:pPr>
          </a:p>
          <a:p>
            <a:pPr algn="l">
              <a:lnSpc>
                <a:spcPts val="3383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proceso de cálculo de T(n) (la función de tiempo en función del tamaño de la entrada n) implica sumar la frecuencia de ejecución de cada operación elemental. Este "micro-análisis" permite determinar el orden de complejidad del algoritmo, ignorando factores constantes.</a:t>
            </a:r>
          </a:p>
          <a:p>
            <a:pPr algn="l" marL="582928" indent="-291464" lvl="1">
              <a:lnSpc>
                <a:spcPts val="3383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Identificar todas las operaciones elementales dentro de un algoritmo.</a:t>
            </a:r>
          </a:p>
          <a:p>
            <a:pPr algn="l" marL="582928" indent="-291464" lvl="1">
              <a:lnSpc>
                <a:spcPts val="3383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Determinar cuántas veces se ejecuta cada operación en función de n.</a:t>
            </a:r>
          </a:p>
          <a:p>
            <a:pPr algn="l" marL="582928" indent="-291464" lvl="1">
              <a:lnSpc>
                <a:spcPts val="3384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Sumar las frecuencias para obtener una expresión que representa el tiempo total de ejecución.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880655" y="7639825"/>
            <a:ext cx="14526690" cy="1768230"/>
          </a:xfrm>
          <a:custGeom>
            <a:avLst/>
            <a:gdLst/>
            <a:ahLst/>
            <a:cxnLst/>
            <a:rect r="r" b="b" t="t" l="l"/>
            <a:pathLst>
              <a:path h="1768230" w="14526690">
                <a:moveTo>
                  <a:pt x="0" y="0"/>
                </a:moveTo>
                <a:lnTo>
                  <a:pt x="14526690" y="0"/>
                </a:lnTo>
                <a:lnTo>
                  <a:pt x="14526690" y="1768230"/>
                </a:lnTo>
                <a:lnTo>
                  <a:pt x="0" y="1768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01498" y="704284"/>
            <a:ext cx="11688921" cy="62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  <a:r>
              <a:rPr lang="en-US" sz="40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Operaciones básicas y conteo de instrucciones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6309" y="1786764"/>
            <a:ext cx="16842991" cy="84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4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Incluyen asignaciones, operaciones aritméticas, comparaciones lógicas y accesos a memoria (lectura o escritura). Cada una de estas se asume que toma una cantidad constante de tiempo.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756404" y="1811150"/>
          <a:ext cx="14775191" cy="6000750"/>
        </p:xfrm>
        <a:graphic>
          <a:graphicData uri="http://schemas.openxmlformats.org/drawingml/2006/table">
            <a:tbl>
              <a:tblPr/>
              <a:tblGrid>
                <a:gridCol w="7526868"/>
                <a:gridCol w="7248323"/>
              </a:tblGrid>
              <a:tr h="10640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Análisis Teórico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b="true" sz="29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Medición Empírica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6719">
                <a:tc>
                  <a:txBody>
                    <a:bodyPr anchor="t" rtlCol="false"/>
                    <a:lstStyle/>
                    <a:p>
                      <a:pPr algn="l" marL="496572" indent="-248286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Basado en modelos matemáticos (como la Máquina RAM).</a:t>
                      </a:r>
                      <a:endParaRPr lang="en-US" sz="1100"/>
                    </a:p>
                    <a:p>
                      <a:pPr algn="l" marL="496572" indent="-248286" lvl="1">
                        <a:lnSpc>
                          <a:spcPts val="3220"/>
                        </a:lnSpc>
                        <a:buFont typeface="Arial"/>
                        <a:buChar char="•"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Ofrece una comprensión general e independiente del hardware.</a:t>
                      </a:r>
                    </a:p>
                    <a:p>
                      <a:pPr algn="l" marL="496572" indent="-248286" lvl="1">
                        <a:lnSpc>
                          <a:spcPts val="3220"/>
                        </a:lnSpc>
                        <a:buFont typeface="Arial"/>
                        <a:buChar char="•"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Permite predecir el comportamiento del algoritmo para entradas muy grandes.</a:t>
                      </a:r>
                    </a:p>
                    <a:p>
                      <a:pPr algn="l" marL="496572" indent="-248286" lvl="1">
                        <a:lnSpc>
                          <a:spcPts val="3220"/>
                        </a:lnSpc>
                        <a:buFont typeface="Arial"/>
                        <a:buChar char="•"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requiere implementación, facilitando la evaluación temprana.</a:t>
                      </a:r>
                    </a:p>
                    <a:p>
                      <a:pPr algn="l" marL="496572" indent="-248286" lvl="1">
                        <a:lnSpc>
                          <a:spcPts val="3220"/>
                        </a:lnSpc>
                        <a:buFont typeface="Arial"/>
                        <a:buChar char="•"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Ideal para comparar algoritmos fundamentalmente diferentes.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Implica la ejecución real del algoritmo en un sistema específico.</a:t>
                      </a:r>
                      <a:endParaRPr lang="en-US" sz="1100"/>
                    </a:p>
                    <a:p>
                      <a:pPr algn="ctr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 las predicciones teóricas en condiciones prácticas.</a:t>
                      </a:r>
                    </a:p>
                    <a:p>
                      <a:pPr algn="ctr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Depende del hardware, compilador, lenguaje de programación y sistema operativo.</a:t>
                      </a:r>
                    </a:p>
                    <a:p>
                      <a:pPr algn="ctr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Revela constantes y factores ocultos que el análisis teórico ignora.</a:t>
                      </a:r>
                    </a:p>
                    <a:p>
                      <a:pPr algn="ctr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Esencial para optimizaciones específicas del entorno de ejecución.</a:t>
                      </a:r>
                    </a:p>
                    <a:p>
                      <a:pPr algn="ctr">
                        <a:lnSpc>
                          <a:spcPts val="32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930571" y="662781"/>
            <a:ext cx="10426859" cy="70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  <a:spcBef>
                <a:spcPct val="0"/>
              </a:spcBef>
            </a:pPr>
            <a:r>
              <a:rPr lang="en-US" b="true" sz="44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Análisis Teórico vs. Medición Empírica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3267" y="8443993"/>
            <a:ext cx="17181465" cy="99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Ambos enfoques son complementarios. Mientras el análisis teórico predice el comportamiento asintótico, la medición empírica verifica y ajusta esas predicciones en un contexto real. Un buen diseño algorítmico considera ambos aspectos para lograr eficiencia tanto en la teoría como en la práctica.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86112" y="1797460"/>
            <a:ext cx="7115776" cy="7460840"/>
          </a:xfrm>
          <a:custGeom>
            <a:avLst/>
            <a:gdLst/>
            <a:ahLst/>
            <a:cxnLst/>
            <a:rect r="r" b="b" t="t" l="l"/>
            <a:pathLst>
              <a:path h="7460840" w="7115776">
                <a:moveTo>
                  <a:pt x="0" y="0"/>
                </a:moveTo>
                <a:lnTo>
                  <a:pt x="7115776" y="0"/>
                </a:lnTo>
                <a:lnTo>
                  <a:pt x="7115776" y="7460840"/>
                </a:lnTo>
                <a:lnTo>
                  <a:pt x="0" y="7460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3084" y="1000125"/>
            <a:ext cx="9445523" cy="70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Algoritmo de Ejemplo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5898" y="2091280"/>
            <a:ext cx="7115776" cy="7460840"/>
          </a:xfrm>
          <a:custGeom>
            <a:avLst/>
            <a:gdLst/>
            <a:ahLst/>
            <a:cxnLst/>
            <a:rect r="r" b="b" t="t" l="l"/>
            <a:pathLst>
              <a:path h="7460840" w="7115776">
                <a:moveTo>
                  <a:pt x="0" y="0"/>
                </a:moveTo>
                <a:lnTo>
                  <a:pt x="7115776" y="0"/>
                </a:lnTo>
                <a:lnTo>
                  <a:pt x="7115776" y="7460840"/>
                </a:lnTo>
                <a:lnTo>
                  <a:pt x="0" y="7460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09889" y="2580065"/>
            <a:ext cx="1009529" cy="467944"/>
            <a:chOff x="0" y="0"/>
            <a:chExt cx="265884" cy="123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 OE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09889" y="3048009"/>
            <a:ext cx="1009529" cy="467944"/>
            <a:chOff x="0" y="0"/>
            <a:chExt cx="265884" cy="1232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 OE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92115" y="3605873"/>
            <a:ext cx="1009529" cy="467944"/>
            <a:chOff x="0" y="0"/>
            <a:chExt cx="265884" cy="1232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 OE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91830" y="4073817"/>
            <a:ext cx="1009529" cy="467944"/>
            <a:chOff x="0" y="0"/>
            <a:chExt cx="265884" cy="1232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 OE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77536" y="4903054"/>
            <a:ext cx="1009529" cy="467944"/>
            <a:chOff x="0" y="0"/>
            <a:chExt cx="265884" cy="1232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 OE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58708" y="5821700"/>
            <a:ext cx="1009529" cy="467944"/>
            <a:chOff x="0" y="0"/>
            <a:chExt cx="265884" cy="1232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 OE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33786" y="5370998"/>
            <a:ext cx="1009529" cy="467944"/>
            <a:chOff x="0" y="0"/>
            <a:chExt cx="265884" cy="1232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 OE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564195" y="8538453"/>
            <a:ext cx="1009529" cy="467944"/>
            <a:chOff x="0" y="0"/>
            <a:chExt cx="265884" cy="1232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 OE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943315" y="6298521"/>
            <a:ext cx="1009529" cy="467944"/>
            <a:chOff x="0" y="0"/>
            <a:chExt cx="265884" cy="1232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 OE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77536" y="7070608"/>
            <a:ext cx="1009529" cy="467944"/>
            <a:chOff x="0" y="0"/>
            <a:chExt cx="265884" cy="1232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5884" cy="123245"/>
            </a:xfrm>
            <a:custGeom>
              <a:avLst/>
              <a:gdLst/>
              <a:ahLst/>
              <a:cxnLst/>
              <a:rect r="r" b="b" t="t" l="l"/>
              <a:pathLst>
                <a:path h="123245" w="265884">
                  <a:moveTo>
                    <a:pt x="61622" y="0"/>
                  </a:moveTo>
                  <a:lnTo>
                    <a:pt x="204262" y="0"/>
                  </a:lnTo>
                  <a:cubicBezTo>
                    <a:pt x="220605" y="0"/>
                    <a:pt x="236279" y="6492"/>
                    <a:pt x="247836" y="18049"/>
                  </a:cubicBezTo>
                  <a:cubicBezTo>
                    <a:pt x="259392" y="29605"/>
                    <a:pt x="265884" y="45279"/>
                    <a:pt x="265884" y="61622"/>
                  </a:cubicBezTo>
                  <a:lnTo>
                    <a:pt x="265884" y="61622"/>
                  </a:lnTo>
                  <a:cubicBezTo>
                    <a:pt x="265884" y="95655"/>
                    <a:pt x="238295" y="123245"/>
                    <a:pt x="204262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6588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 OE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545287" y="4073817"/>
            <a:ext cx="6248338" cy="467944"/>
            <a:chOff x="0" y="0"/>
            <a:chExt cx="1645653" cy="12324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5653" cy="123245"/>
            </a:xfrm>
            <a:custGeom>
              <a:avLst/>
              <a:gdLst/>
              <a:ahLst/>
              <a:cxnLst/>
              <a:rect r="r" b="b" t="t" l="l"/>
              <a:pathLst>
                <a:path h="123245" w="1645653">
                  <a:moveTo>
                    <a:pt x="61622" y="0"/>
                  </a:moveTo>
                  <a:lnTo>
                    <a:pt x="1584031" y="0"/>
                  </a:lnTo>
                  <a:cubicBezTo>
                    <a:pt x="1618064" y="0"/>
                    <a:pt x="1645653" y="27589"/>
                    <a:pt x="1645653" y="61622"/>
                  </a:cubicBezTo>
                  <a:lnTo>
                    <a:pt x="1645653" y="61622"/>
                  </a:lnTo>
                  <a:cubicBezTo>
                    <a:pt x="1645653" y="77966"/>
                    <a:pt x="1639161" y="93639"/>
                    <a:pt x="1627604" y="105196"/>
                  </a:cubicBezTo>
                  <a:cubicBezTo>
                    <a:pt x="1616048" y="116752"/>
                    <a:pt x="1600374" y="123245"/>
                    <a:pt x="1584031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45653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T(n) = (1 + 2 + log2(n) [1 + 3 + 2 + 2 + 2 + 2] + 1) OE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46057" y="4786605"/>
            <a:ext cx="3246798" cy="467944"/>
            <a:chOff x="0" y="0"/>
            <a:chExt cx="855124" cy="1232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5124" cy="123245"/>
            </a:xfrm>
            <a:custGeom>
              <a:avLst/>
              <a:gdLst/>
              <a:ahLst/>
              <a:cxnLst/>
              <a:rect r="r" b="b" t="t" l="l"/>
              <a:pathLst>
                <a:path h="123245" w="855124">
                  <a:moveTo>
                    <a:pt x="61622" y="0"/>
                  </a:moveTo>
                  <a:lnTo>
                    <a:pt x="793501" y="0"/>
                  </a:lnTo>
                  <a:cubicBezTo>
                    <a:pt x="809845" y="0"/>
                    <a:pt x="825519" y="6492"/>
                    <a:pt x="837075" y="18049"/>
                  </a:cubicBezTo>
                  <a:cubicBezTo>
                    <a:pt x="848631" y="29605"/>
                    <a:pt x="855124" y="45279"/>
                    <a:pt x="855124" y="61622"/>
                  </a:cubicBezTo>
                  <a:lnTo>
                    <a:pt x="855124" y="61622"/>
                  </a:lnTo>
                  <a:cubicBezTo>
                    <a:pt x="855124" y="77966"/>
                    <a:pt x="848631" y="93639"/>
                    <a:pt x="837075" y="105196"/>
                  </a:cubicBezTo>
                  <a:cubicBezTo>
                    <a:pt x="825519" y="116752"/>
                    <a:pt x="809845" y="123245"/>
                    <a:pt x="793501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5512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T(n) = (4 + 12 log2(n)) OE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50080" y="3048009"/>
            <a:ext cx="5100938" cy="780964"/>
            <a:chOff x="0" y="0"/>
            <a:chExt cx="1343457" cy="20568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3457" cy="205686"/>
            </a:xfrm>
            <a:custGeom>
              <a:avLst/>
              <a:gdLst/>
              <a:ahLst/>
              <a:cxnLst/>
              <a:rect r="r" b="b" t="t" l="l"/>
              <a:pathLst>
                <a:path h="205686" w="1343457">
                  <a:moveTo>
                    <a:pt x="77405" y="0"/>
                  </a:moveTo>
                  <a:lnTo>
                    <a:pt x="1266052" y="0"/>
                  </a:lnTo>
                  <a:cubicBezTo>
                    <a:pt x="1308802" y="0"/>
                    <a:pt x="1343457" y="34655"/>
                    <a:pt x="1343457" y="77405"/>
                  </a:cubicBezTo>
                  <a:lnTo>
                    <a:pt x="1343457" y="128281"/>
                  </a:lnTo>
                  <a:cubicBezTo>
                    <a:pt x="1343457" y="171031"/>
                    <a:pt x="1308802" y="205686"/>
                    <a:pt x="1266052" y="205686"/>
                  </a:cubicBezTo>
                  <a:lnTo>
                    <a:pt x="77405" y="205686"/>
                  </a:lnTo>
                  <a:cubicBezTo>
                    <a:pt x="34655" y="205686"/>
                    <a:pt x="0" y="171031"/>
                    <a:pt x="0" y="128281"/>
                  </a:cubicBezTo>
                  <a:lnTo>
                    <a:pt x="0" y="77405"/>
                  </a:lnTo>
                  <a:cubicBezTo>
                    <a:pt x="0" y="34655"/>
                    <a:pt x="34655" y="0"/>
                    <a:pt x="77405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343457" cy="243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Ecuación del tiempo de ejecución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28700" y="700605"/>
            <a:ext cx="7771906" cy="60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87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Análisis del Tiempo de Ejecución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991631" y="5510266"/>
            <a:ext cx="5100938" cy="780964"/>
            <a:chOff x="0" y="0"/>
            <a:chExt cx="1343457" cy="20568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43457" cy="205686"/>
            </a:xfrm>
            <a:custGeom>
              <a:avLst/>
              <a:gdLst/>
              <a:ahLst/>
              <a:cxnLst/>
              <a:rect r="r" b="b" t="t" l="l"/>
              <a:pathLst>
                <a:path h="205686" w="1343457">
                  <a:moveTo>
                    <a:pt x="77405" y="0"/>
                  </a:moveTo>
                  <a:lnTo>
                    <a:pt x="1266052" y="0"/>
                  </a:lnTo>
                  <a:cubicBezTo>
                    <a:pt x="1308802" y="0"/>
                    <a:pt x="1343457" y="34655"/>
                    <a:pt x="1343457" y="77405"/>
                  </a:cubicBezTo>
                  <a:lnTo>
                    <a:pt x="1343457" y="128281"/>
                  </a:lnTo>
                  <a:cubicBezTo>
                    <a:pt x="1343457" y="171031"/>
                    <a:pt x="1308802" y="205686"/>
                    <a:pt x="1266052" y="205686"/>
                  </a:cubicBezTo>
                  <a:lnTo>
                    <a:pt x="77405" y="205686"/>
                  </a:lnTo>
                  <a:cubicBezTo>
                    <a:pt x="34655" y="205686"/>
                    <a:pt x="0" y="171031"/>
                    <a:pt x="0" y="128281"/>
                  </a:cubicBezTo>
                  <a:lnTo>
                    <a:pt x="0" y="77405"/>
                  </a:lnTo>
                  <a:cubicBezTo>
                    <a:pt x="0" y="34655"/>
                    <a:pt x="34655" y="0"/>
                    <a:pt x="77405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343457" cy="243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Orden de complejidad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046057" y="6602664"/>
            <a:ext cx="3246798" cy="467944"/>
            <a:chOff x="0" y="0"/>
            <a:chExt cx="855124" cy="1232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5124" cy="123245"/>
            </a:xfrm>
            <a:custGeom>
              <a:avLst/>
              <a:gdLst/>
              <a:ahLst/>
              <a:cxnLst/>
              <a:rect r="r" b="b" t="t" l="l"/>
              <a:pathLst>
                <a:path h="123245" w="855124">
                  <a:moveTo>
                    <a:pt x="61622" y="0"/>
                  </a:moveTo>
                  <a:lnTo>
                    <a:pt x="793501" y="0"/>
                  </a:lnTo>
                  <a:cubicBezTo>
                    <a:pt x="809845" y="0"/>
                    <a:pt x="825519" y="6492"/>
                    <a:pt x="837075" y="18049"/>
                  </a:cubicBezTo>
                  <a:cubicBezTo>
                    <a:pt x="848631" y="29605"/>
                    <a:pt x="855124" y="45279"/>
                    <a:pt x="855124" y="61622"/>
                  </a:cubicBezTo>
                  <a:lnTo>
                    <a:pt x="855124" y="61622"/>
                  </a:lnTo>
                  <a:cubicBezTo>
                    <a:pt x="855124" y="77966"/>
                    <a:pt x="848631" y="93639"/>
                    <a:pt x="837075" y="105196"/>
                  </a:cubicBezTo>
                  <a:cubicBezTo>
                    <a:pt x="825519" y="116752"/>
                    <a:pt x="809845" y="123245"/>
                    <a:pt x="793501" y="123245"/>
                  </a:cubicBezTo>
                  <a:lnTo>
                    <a:pt x="61622" y="123245"/>
                  </a:lnTo>
                  <a:cubicBezTo>
                    <a:pt x="45279" y="123245"/>
                    <a:pt x="29605" y="116752"/>
                    <a:pt x="18049" y="105196"/>
                  </a:cubicBezTo>
                  <a:cubicBezTo>
                    <a:pt x="6492" y="93639"/>
                    <a:pt x="0" y="77966"/>
                    <a:pt x="0" y="61622"/>
                  </a:cubicBezTo>
                  <a:lnTo>
                    <a:pt x="0" y="61622"/>
                  </a:lnTo>
                  <a:cubicBezTo>
                    <a:pt x="0" y="45279"/>
                    <a:pt x="6492" y="29605"/>
                    <a:pt x="18049" y="18049"/>
                  </a:cubicBezTo>
                  <a:cubicBezTo>
                    <a:pt x="29605" y="6492"/>
                    <a:pt x="45279" y="0"/>
                    <a:pt x="6162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855124" cy="161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O(log2(n))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0636" y="3083613"/>
            <a:ext cx="12977050" cy="2059887"/>
            <a:chOff x="0" y="0"/>
            <a:chExt cx="3417824" cy="5425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17824" cy="542522"/>
            </a:xfrm>
            <a:custGeom>
              <a:avLst/>
              <a:gdLst/>
              <a:ahLst/>
              <a:cxnLst/>
              <a:rect r="r" b="b" t="t" l="l"/>
              <a:pathLst>
                <a:path h="542522" w="3417824">
                  <a:moveTo>
                    <a:pt x="30426" y="0"/>
                  </a:moveTo>
                  <a:lnTo>
                    <a:pt x="3387398" y="0"/>
                  </a:lnTo>
                  <a:cubicBezTo>
                    <a:pt x="3395468" y="0"/>
                    <a:pt x="3403207" y="3206"/>
                    <a:pt x="3408912" y="8912"/>
                  </a:cubicBezTo>
                  <a:cubicBezTo>
                    <a:pt x="3414618" y="14617"/>
                    <a:pt x="3417824" y="22356"/>
                    <a:pt x="3417824" y="30426"/>
                  </a:cubicBezTo>
                  <a:lnTo>
                    <a:pt x="3417824" y="512096"/>
                  </a:lnTo>
                  <a:cubicBezTo>
                    <a:pt x="3417824" y="520165"/>
                    <a:pt x="3414618" y="527904"/>
                    <a:pt x="3408912" y="533610"/>
                  </a:cubicBezTo>
                  <a:cubicBezTo>
                    <a:pt x="3403207" y="539316"/>
                    <a:pt x="3395468" y="542522"/>
                    <a:pt x="3387398" y="542522"/>
                  </a:cubicBezTo>
                  <a:lnTo>
                    <a:pt x="30426" y="542522"/>
                  </a:lnTo>
                  <a:cubicBezTo>
                    <a:pt x="22356" y="542522"/>
                    <a:pt x="14617" y="539316"/>
                    <a:pt x="8912" y="533610"/>
                  </a:cubicBezTo>
                  <a:cubicBezTo>
                    <a:pt x="3206" y="527904"/>
                    <a:pt x="0" y="520165"/>
                    <a:pt x="0" y="512096"/>
                  </a:cubicBezTo>
                  <a:lnTo>
                    <a:pt x="0" y="30426"/>
                  </a:lnTo>
                  <a:cubicBezTo>
                    <a:pt x="0" y="22356"/>
                    <a:pt x="3206" y="14617"/>
                    <a:pt x="8912" y="8912"/>
                  </a:cubicBezTo>
                  <a:cubicBezTo>
                    <a:pt x="14617" y="3206"/>
                    <a:pt x="22356" y="0"/>
                    <a:pt x="3042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417824" cy="599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tiempo de ejecución puede verse afectado indirectamente  por factores como el hardware y la cantidad de datos a profesar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120341" y="1218316"/>
            <a:ext cx="3716124" cy="70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44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10636" y="6309469"/>
            <a:ext cx="12977050" cy="2059887"/>
            <a:chOff x="0" y="0"/>
            <a:chExt cx="3417824" cy="5425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17824" cy="542522"/>
            </a:xfrm>
            <a:custGeom>
              <a:avLst/>
              <a:gdLst/>
              <a:ahLst/>
              <a:cxnLst/>
              <a:rect r="r" b="b" t="t" l="l"/>
              <a:pathLst>
                <a:path h="542522" w="3417824">
                  <a:moveTo>
                    <a:pt x="30426" y="0"/>
                  </a:moveTo>
                  <a:lnTo>
                    <a:pt x="3387398" y="0"/>
                  </a:lnTo>
                  <a:cubicBezTo>
                    <a:pt x="3395468" y="0"/>
                    <a:pt x="3403207" y="3206"/>
                    <a:pt x="3408912" y="8912"/>
                  </a:cubicBezTo>
                  <a:cubicBezTo>
                    <a:pt x="3414618" y="14617"/>
                    <a:pt x="3417824" y="22356"/>
                    <a:pt x="3417824" y="30426"/>
                  </a:cubicBezTo>
                  <a:lnTo>
                    <a:pt x="3417824" y="512096"/>
                  </a:lnTo>
                  <a:cubicBezTo>
                    <a:pt x="3417824" y="520165"/>
                    <a:pt x="3414618" y="527904"/>
                    <a:pt x="3408912" y="533610"/>
                  </a:cubicBezTo>
                  <a:cubicBezTo>
                    <a:pt x="3403207" y="539316"/>
                    <a:pt x="3395468" y="542522"/>
                    <a:pt x="3387398" y="542522"/>
                  </a:cubicBezTo>
                  <a:lnTo>
                    <a:pt x="30426" y="542522"/>
                  </a:lnTo>
                  <a:cubicBezTo>
                    <a:pt x="22356" y="542522"/>
                    <a:pt x="14617" y="539316"/>
                    <a:pt x="8912" y="533610"/>
                  </a:cubicBezTo>
                  <a:cubicBezTo>
                    <a:pt x="3206" y="527904"/>
                    <a:pt x="0" y="520165"/>
                    <a:pt x="0" y="512096"/>
                  </a:cubicBezTo>
                  <a:lnTo>
                    <a:pt x="0" y="30426"/>
                  </a:lnTo>
                  <a:cubicBezTo>
                    <a:pt x="0" y="22356"/>
                    <a:pt x="3206" y="14617"/>
                    <a:pt x="8912" y="8912"/>
                  </a:cubicBezTo>
                  <a:cubicBezTo>
                    <a:pt x="14617" y="3206"/>
                    <a:pt x="22356" y="0"/>
                    <a:pt x="3042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417824" cy="599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tiempo de ejecución juega un rol importante a la hora de escoger un algoritmo que satisfaga las necesidades del usuario sin ocupar muchos recursos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DAG_LtG2p58</dc:identifier>
  <dcterms:modified xsi:type="dcterms:W3CDTF">2011-08-01T06:04:30Z</dcterms:modified>
  <cp:revision>1</cp:revision>
  <dc:title>P3_Inv2_28436_Andrade_Bonilla_Quiroz_Tiupul_G2</dc:title>
</cp:coreProperties>
</file>